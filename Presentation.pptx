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sldIdLst>
    <p:sldId id="256" r:id="rId2"/>
    <p:sldId id="257" r:id="rId3"/>
    <p:sldId id="258" r:id="rId4"/>
    <p:sldId id="259" r:id="rId5"/>
    <p:sldId id="260" r:id="rId6"/>
    <p:sldId id="261" r:id="rId7"/>
    <p:sldId id="262" r:id="rId8"/>
    <p:sldId id="264" r:id="rId9"/>
    <p:sldId id="265" r:id="rId10"/>
    <p:sldId id="263" r:id="rId11"/>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0224CC-1A89-82A2-D1CC-1DEC272C91BF}" v="1562" dt="2026-01-14T17:30:03.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1/14/2026</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846410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1/14/2026</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603234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1/14/2026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68101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1/14/2026</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58295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1/14/2026</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809473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1/14/2026</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44825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1/14/2026</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422462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1/14/2026</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20675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1/14/2026</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211191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1/14/2026</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799431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1/14/2026</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714034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1/14/2026</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3933326544"/>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15" r:id="rId6"/>
    <p:sldLayoutId id="2147483711" r:id="rId7"/>
    <p:sldLayoutId id="2147483712" r:id="rId8"/>
    <p:sldLayoutId id="2147483713" r:id="rId9"/>
    <p:sldLayoutId id="2147483714" r:id="rId10"/>
    <p:sldLayoutId id="2147483716"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43" name="Picture 42">
            <a:extLst>
              <a:ext uri="{FF2B5EF4-FFF2-40B4-BE49-F238E27FC236}">
                <a16:creationId xmlns:a16="http://schemas.microsoft.com/office/drawing/2014/main" id="{050DB74F-28CD-85E4-4891-BE4DEA4E4058}"/>
              </a:ext>
            </a:extLst>
          </p:cNvPr>
          <p:cNvPicPr>
            <a:picLocks noChangeAspect="1"/>
          </p:cNvPicPr>
          <p:nvPr/>
        </p:nvPicPr>
        <p:blipFill>
          <a:blip r:embed="rId2">
            <a:alphaModFix amt="40000"/>
          </a:blip>
          <a:srcRect t="6444" r="6" b="18542"/>
          <a:stretch>
            <a:fillRect/>
          </a:stretch>
        </p:blipFill>
        <p:spPr>
          <a:xfrm>
            <a:off x="20" y="10"/>
            <a:ext cx="12188932" cy="6857990"/>
          </a:xfrm>
          <a:prstGeom prst="rect">
            <a:avLst/>
          </a:prstGeom>
        </p:spPr>
      </p:pic>
      <p:sp>
        <p:nvSpPr>
          <p:cNvPr id="2" name="Tytuł 1"/>
          <p:cNvSpPr>
            <a:spLocks noGrp="1"/>
          </p:cNvSpPr>
          <p:nvPr>
            <p:ph type="ctrTitle"/>
          </p:nvPr>
        </p:nvSpPr>
        <p:spPr>
          <a:xfrm>
            <a:off x="1549238" y="1145080"/>
            <a:ext cx="9090476" cy="2179601"/>
          </a:xfrm>
        </p:spPr>
        <p:txBody>
          <a:bodyPr anchor="b">
            <a:normAutofit/>
          </a:bodyPr>
          <a:lstStyle/>
          <a:p>
            <a:pPr algn="ctr"/>
            <a:r>
              <a:rPr lang="pl-PL">
                <a:solidFill>
                  <a:srgbClr val="FFFFFF"/>
                </a:solidFill>
              </a:rPr>
              <a:t>ML Projekt (wstęp)</a:t>
            </a:r>
          </a:p>
        </p:txBody>
      </p:sp>
      <p:sp>
        <p:nvSpPr>
          <p:cNvPr id="3" name="Podtytuł 2"/>
          <p:cNvSpPr>
            <a:spLocks noGrp="1"/>
          </p:cNvSpPr>
          <p:nvPr>
            <p:ph type="subTitle" idx="1"/>
          </p:nvPr>
        </p:nvSpPr>
        <p:spPr>
          <a:xfrm>
            <a:off x="2999029" y="3774105"/>
            <a:ext cx="6190895" cy="1633040"/>
          </a:xfrm>
        </p:spPr>
        <p:txBody>
          <a:bodyPr vert="horz" lIns="91440" tIns="45720" rIns="91440" bIns="45720" rtlCol="0" anchor="t">
            <a:normAutofit/>
          </a:bodyPr>
          <a:lstStyle/>
          <a:p>
            <a:pPr algn="ctr"/>
            <a:r>
              <a:rPr lang="pl-PL">
                <a:solidFill>
                  <a:srgbClr val="FFFFFF"/>
                </a:solidFill>
              </a:rPr>
              <a:t>Miłosz Witkowski i Alan Pietrasz</a:t>
            </a:r>
          </a:p>
        </p:txBody>
      </p:sp>
      <p:sp>
        <p:nvSpPr>
          <p:cNvPr id="44" name="Freeform: Shape 43">
            <a:extLst>
              <a:ext uri="{FF2B5EF4-FFF2-40B4-BE49-F238E27FC236}">
                <a16:creationId xmlns:a16="http://schemas.microsoft.com/office/drawing/2014/main" id="{25A2CBEC-4F23-437D-9D03-9968C9B79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94120" y="-1094120"/>
            <a:ext cx="1085312" cy="3273554"/>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5"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8356" y="3533292"/>
            <a:ext cx="972241" cy="45718"/>
            <a:chOff x="4886325" y="3371754"/>
            <a:chExt cx="2418492" cy="113728"/>
          </a:xfrm>
          <a:solidFill>
            <a:schemeClr val="accent1"/>
          </a:solidFill>
        </p:grpSpPr>
        <p:sp>
          <p:nvSpPr>
            <p:cNvPr id="14"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5"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6"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7"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8"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dirty="0"/>
              </a:p>
            </p:txBody>
          </p:sp>
        </p:grpSp>
      </p:grpSp>
      <p:sp>
        <p:nvSpPr>
          <p:cNvPr id="46" name="Freeform: Shape 45">
            <a:extLst>
              <a:ext uri="{FF2B5EF4-FFF2-40B4-BE49-F238E27FC236}">
                <a16:creationId xmlns:a16="http://schemas.microsoft.com/office/drawing/2014/main" id="{6264A856-A4F6-4068-9AC3-7B38A00DA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7" name="Group 46">
            <a:extLst>
              <a:ext uri="{FF2B5EF4-FFF2-40B4-BE49-F238E27FC236}">
                <a16:creationId xmlns:a16="http://schemas.microsoft.com/office/drawing/2014/main" id="{C2983E8C-44FB-463B-B6B0-B53E96ACCD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4" name="Freeform: Shape 23">
              <a:extLst>
                <a:ext uri="{FF2B5EF4-FFF2-40B4-BE49-F238E27FC236}">
                  <a16:creationId xmlns:a16="http://schemas.microsoft.com/office/drawing/2014/main" id="{16AD7FCC-3422-42C3-A2AD-69ADFEA6E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C4ECA670-C540-4DCE-8F03-EC843D518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6" name="Freeform: Shape 25">
              <a:extLst>
                <a:ext uri="{FF2B5EF4-FFF2-40B4-BE49-F238E27FC236}">
                  <a16:creationId xmlns:a16="http://schemas.microsoft.com/office/drawing/2014/main" id="{7ECB6083-DDE0-460C-987E-E64587630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Graphic 12">
              <a:extLst>
                <a:ext uri="{FF2B5EF4-FFF2-40B4-BE49-F238E27FC236}">
                  <a16:creationId xmlns:a16="http://schemas.microsoft.com/office/drawing/2014/main" id="{378004C4-6786-473C-BB2A-AAA6EF115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455376B6-DAB5-4A34-A8BE-15DE02CAF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9" name="Graphic 15">
              <a:extLst>
                <a:ext uri="{FF2B5EF4-FFF2-40B4-BE49-F238E27FC236}">
                  <a16:creationId xmlns:a16="http://schemas.microsoft.com/office/drawing/2014/main" id="{EC2A85A1-668E-48DF-A484-FADE64BE6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6D16C5EE-54EB-4800-8860-E622EEDE8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5031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4316-3FDC-F1C9-B40D-F59C8F3E62BD}"/>
              </a:ext>
            </a:extLst>
          </p:cNvPr>
          <p:cNvSpPr>
            <a:spLocks noGrp="1"/>
          </p:cNvSpPr>
          <p:nvPr>
            <p:ph type="title"/>
          </p:nvPr>
        </p:nvSpPr>
        <p:spPr/>
        <p:txBody>
          <a:bodyPr/>
          <a:lstStyle/>
          <a:p>
            <a:r>
              <a:rPr lang="en-US" dirty="0"/>
              <a:t>Problem to solve:</a:t>
            </a:r>
          </a:p>
        </p:txBody>
      </p:sp>
      <p:sp>
        <p:nvSpPr>
          <p:cNvPr id="3" name="Content Placeholder 2">
            <a:extLst>
              <a:ext uri="{FF2B5EF4-FFF2-40B4-BE49-F238E27FC236}">
                <a16:creationId xmlns:a16="http://schemas.microsoft.com/office/drawing/2014/main" id="{89FD5164-29FE-187A-4A11-E9F0703AD966}"/>
              </a:ext>
            </a:extLst>
          </p:cNvPr>
          <p:cNvSpPr>
            <a:spLocks noGrp="1"/>
          </p:cNvSpPr>
          <p:nvPr>
            <p:ph idx="1"/>
          </p:nvPr>
        </p:nvSpPr>
        <p:spPr/>
        <p:txBody>
          <a:bodyPr vert="horz" lIns="91440" tIns="45720" rIns="91440" bIns="45720" rtlCol="0" anchor="t">
            <a:normAutofit/>
          </a:bodyPr>
          <a:lstStyle/>
          <a:p>
            <a:pPr marL="342900" indent="-342900">
              <a:buFont typeface="Calibri" panose="020B0604020202020204" pitchFamily="34" charset="0"/>
              <a:buChar char="-"/>
            </a:pPr>
            <a:r>
              <a:rPr lang="en-US" dirty="0">
                <a:ea typeface="+mn-lt"/>
                <a:cs typeface="+mn-lt"/>
              </a:rPr>
              <a:t>We want to build a wine recommendation system that uses your past ratings to predict the next wines you might enjoy. </a:t>
            </a:r>
          </a:p>
          <a:p>
            <a:pPr marL="342900" indent="-342900">
              <a:buFont typeface="Calibri" panose="020B0604020202020204" pitchFamily="34" charset="0"/>
              <a:buChar char="-"/>
            </a:pPr>
            <a:r>
              <a:rPr lang="en-US" dirty="0">
                <a:ea typeface="+mn-lt"/>
                <a:cs typeface="+mn-lt"/>
              </a:rPr>
              <a:t>We also want an aggregation model so you can choose wine by price, taste, texture, aroma, etc., and get the best wine for you (using your ratings and/or only tasters’ ratings).</a:t>
            </a:r>
          </a:p>
          <a:p>
            <a:pPr marL="342900" indent="-342900">
              <a:buFont typeface="Calibri" panose="020B0604020202020204" pitchFamily="34" charset="0"/>
              <a:buChar char="-"/>
            </a:pPr>
            <a:r>
              <a:rPr lang="en-US" dirty="0">
                <a:ea typeface="+mn-lt"/>
                <a:cs typeface="+mn-lt"/>
              </a:rPr>
              <a:t>We want to find out if price really matters when it comes to wine, and we would also like to know which affordable (student-friendly) good wines we can get. 😊</a:t>
            </a:r>
          </a:p>
          <a:p>
            <a:pPr marL="342900" indent="-342900">
              <a:buFont typeface="Calibri" panose="020B0604020202020204" pitchFamily="34" charset="0"/>
              <a:buChar char="-"/>
            </a:pPr>
            <a:r>
              <a:rPr lang="en-US" dirty="0"/>
              <a:t>We may also check relationship between description of wine (smell, taste, character) and type of wine </a:t>
            </a:r>
            <a:r>
              <a:rPr lang="en-US" dirty="0">
                <a:ea typeface="+mn-lt"/>
                <a:cs typeface="+mn-lt"/>
              </a:rPr>
              <a:t>(Pinot Noir, Cabernet Sav., etc.).</a:t>
            </a:r>
            <a:endParaRPr lang="en-US" dirty="0"/>
          </a:p>
        </p:txBody>
      </p:sp>
    </p:spTree>
    <p:extLst>
      <p:ext uri="{BB962C8B-B14F-4D97-AF65-F5344CB8AC3E}">
        <p14:creationId xmlns:p14="http://schemas.microsoft.com/office/powerpoint/2010/main" val="1001473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D860C-4600-6A9D-8040-9E88C4F4A027}"/>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374F179B-F3CF-84E1-10AE-5091EFD20A73}"/>
              </a:ext>
            </a:extLst>
          </p:cNvPr>
          <p:cNvSpPr>
            <a:spLocks noGrp="1"/>
          </p:cNvSpPr>
          <p:nvPr>
            <p:ph idx="1"/>
          </p:nvPr>
        </p:nvSpPr>
        <p:spPr/>
        <p:txBody>
          <a:bodyPr vert="horz" lIns="91440" tIns="45720" rIns="91440" bIns="45720" rtlCol="0" anchor="t">
            <a:normAutofit lnSpcReduction="10000"/>
          </a:bodyPr>
          <a:lstStyle/>
          <a:p>
            <a:r>
              <a:rPr lang="en-US" dirty="0"/>
              <a:t>We are using</a:t>
            </a:r>
            <a:r>
              <a:rPr lang="en-US" dirty="0">
                <a:ea typeface="+mn-lt"/>
                <a:cs typeface="+mn-lt"/>
              </a:rPr>
              <a:t> </a:t>
            </a:r>
            <a:r>
              <a:rPr lang="en-US" b="1" dirty="0" err="1">
                <a:ea typeface="+mn-lt"/>
                <a:cs typeface="+mn-lt"/>
              </a:rPr>
              <a:t>zynicide</a:t>
            </a:r>
            <a:r>
              <a:rPr lang="en-US" b="1" dirty="0">
                <a:ea typeface="+mn-lt"/>
                <a:cs typeface="+mn-lt"/>
              </a:rPr>
              <a:t>/wine-reviews </a:t>
            </a:r>
            <a:r>
              <a:rPr lang="en-US" dirty="0">
                <a:ea typeface="+mn-lt"/>
                <a:cs typeface="+mn-lt"/>
              </a:rPr>
              <a:t>dataset from </a:t>
            </a:r>
            <a:r>
              <a:rPr lang="en-US" dirty="0" err="1">
                <a:ea typeface="+mn-lt"/>
                <a:cs typeface="+mn-lt"/>
              </a:rPr>
              <a:t>kaggle</a:t>
            </a:r>
            <a:r>
              <a:rPr lang="en-US" dirty="0">
                <a:ea typeface="+mn-lt"/>
                <a:cs typeface="+mn-lt"/>
              </a:rPr>
              <a:t> author scraped around 150k wine reviews from </a:t>
            </a:r>
            <a:r>
              <a:rPr lang="en-US" b="1" dirty="0" err="1">
                <a:ea typeface="+mn-lt"/>
                <a:cs typeface="+mn-lt"/>
              </a:rPr>
              <a:t>WineEnthusiast</a:t>
            </a:r>
            <a:r>
              <a:rPr lang="en-US" dirty="0">
                <a:ea typeface="+mn-lt"/>
                <a:cs typeface="+mn-lt"/>
              </a:rPr>
              <a:t>. Also author posted code for said scrapping.</a:t>
            </a:r>
          </a:p>
          <a:p>
            <a:r>
              <a:rPr lang="en-US" sz="1800" b="1" dirty="0">
                <a:ea typeface="+mn-lt"/>
                <a:cs typeface="+mn-lt"/>
              </a:rPr>
              <a:t>The data consists of 12 fields:</a:t>
            </a:r>
          </a:p>
          <a:p>
            <a:pPr marL="171450" indent="-171450">
              <a:buFont typeface="Calibri" panose="020B0604020202020204" pitchFamily="34" charset="0"/>
              <a:buChar char="-"/>
            </a:pPr>
            <a:r>
              <a:rPr lang="en-US" sz="1800" dirty="0">
                <a:ea typeface="+mn-lt"/>
                <a:cs typeface="+mn-lt"/>
              </a:rPr>
              <a:t>Points: the number of points </a:t>
            </a:r>
            <a:r>
              <a:rPr lang="en-US" sz="1800" err="1">
                <a:ea typeface="+mn-lt"/>
                <a:cs typeface="+mn-lt"/>
              </a:rPr>
              <a:t>WineEnthusiast</a:t>
            </a:r>
            <a:r>
              <a:rPr lang="en-US" sz="1800" dirty="0">
                <a:ea typeface="+mn-lt"/>
                <a:cs typeface="+mn-lt"/>
              </a:rPr>
              <a:t> rated the wine on a scale of 1-100 (though they say they only post reviews for wines that score &gt;=80)</a:t>
            </a:r>
          </a:p>
          <a:p>
            <a:pPr marL="171450" indent="-171450">
              <a:buFont typeface="Calibri" panose="020B0604020202020204" pitchFamily="34" charset="0"/>
              <a:buChar char="-"/>
            </a:pPr>
            <a:r>
              <a:rPr lang="en-US" sz="1800" dirty="0">
                <a:ea typeface="+mn-lt"/>
                <a:cs typeface="+mn-lt"/>
              </a:rPr>
              <a:t>Title: the title of the wine review, which often contains the vintage if you're interested in extracting that feature</a:t>
            </a:r>
            <a:endParaRPr lang="en-US" sz="1800"/>
          </a:p>
          <a:p>
            <a:pPr marL="171450" indent="-171450">
              <a:buFont typeface="Calibri" panose="020B0604020202020204" pitchFamily="34" charset="0"/>
              <a:buChar char="-"/>
            </a:pPr>
            <a:r>
              <a:rPr lang="en-US" sz="1800" dirty="0">
                <a:ea typeface="+mn-lt"/>
                <a:cs typeface="+mn-lt"/>
              </a:rPr>
              <a:t>Variety: the type of grapes used to make the wine (</a:t>
            </a:r>
            <a:r>
              <a:rPr lang="en-US" sz="1800" err="1">
                <a:ea typeface="+mn-lt"/>
                <a:cs typeface="+mn-lt"/>
              </a:rPr>
              <a:t>ie</a:t>
            </a:r>
            <a:r>
              <a:rPr lang="en-US" sz="1800" dirty="0">
                <a:ea typeface="+mn-lt"/>
                <a:cs typeface="+mn-lt"/>
              </a:rPr>
              <a:t> Pinot Noir)</a:t>
            </a:r>
          </a:p>
          <a:p>
            <a:pPr marL="171450" indent="-171450">
              <a:buFont typeface="Calibri" panose="020B0604020202020204" pitchFamily="34" charset="0"/>
              <a:buChar char="-"/>
            </a:pPr>
            <a:r>
              <a:rPr lang="en-US" sz="1800" dirty="0">
                <a:ea typeface="+mn-lt"/>
                <a:cs typeface="+mn-lt"/>
              </a:rPr>
              <a:t>Description: a few sentences from a sommelier describing the wine's taste, smell, look, feel, etc.</a:t>
            </a:r>
          </a:p>
          <a:p>
            <a:pPr marL="171450" indent="-171450">
              <a:buFont typeface="Calibri" panose="020B0604020202020204" pitchFamily="34" charset="0"/>
              <a:buChar char="-"/>
            </a:pPr>
            <a:endParaRPr lang="en-US" sz="800" dirty="0">
              <a:ea typeface="+mn-lt"/>
              <a:cs typeface="+mn-lt"/>
            </a:endParaRPr>
          </a:p>
          <a:p>
            <a:endParaRPr lang="en-US" sz="800" dirty="0"/>
          </a:p>
          <a:p>
            <a:endParaRPr lang="en-US" sz="800" dirty="0">
              <a:ea typeface="+mn-lt"/>
              <a:cs typeface="+mn-lt"/>
            </a:endParaRPr>
          </a:p>
          <a:p>
            <a:endParaRPr lang="en-US" dirty="0">
              <a:ea typeface="+mn-lt"/>
              <a:cs typeface="+mn-lt"/>
            </a:endParaRPr>
          </a:p>
        </p:txBody>
      </p:sp>
    </p:spTree>
    <p:extLst>
      <p:ext uri="{BB962C8B-B14F-4D97-AF65-F5344CB8AC3E}">
        <p14:creationId xmlns:p14="http://schemas.microsoft.com/office/powerpoint/2010/main" val="3359249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D7B42-3AF4-4A7F-4BDA-A9A774870278}"/>
              </a:ext>
            </a:extLst>
          </p:cNvPr>
          <p:cNvSpPr>
            <a:spLocks noGrp="1"/>
          </p:cNvSpPr>
          <p:nvPr>
            <p:ph type="title"/>
          </p:nvPr>
        </p:nvSpPr>
        <p:spPr/>
        <p:txBody>
          <a:bodyPr/>
          <a:lstStyle/>
          <a:p>
            <a:r>
              <a:rPr lang="en-US" dirty="0"/>
              <a:t>What does the data </a:t>
            </a:r>
            <a:r>
              <a:rPr lang="en-US" i="0" dirty="0">
                <a:ea typeface="+mj-lt"/>
                <a:cs typeface="+mj-lt"/>
              </a:rPr>
              <a:t> include?</a:t>
            </a:r>
            <a:endParaRPr lang="en-US" i="0" dirty="0"/>
          </a:p>
        </p:txBody>
      </p:sp>
      <p:sp>
        <p:nvSpPr>
          <p:cNvPr id="3" name="Content Placeholder 2">
            <a:extLst>
              <a:ext uri="{FF2B5EF4-FFF2-40B4-BE49-F238E27FC236}">
                <a16:creationId xmlns:a16="http://schemas.microsoft.com/office/drawing/2014/main" id="{4916E820-E1C8-106C-BAE9-AC6F393C99A6}"/>
              </a:ext>
            </a:extLst>
          </p:cNvPr>
          <p:cNvSpPr>
            <a:spLocks noGrp="1"/>
          </p:cNvSpPr>
          <p:nvPr>
            <p:ph idx="1"/>
          </p:nvPr>
        </p:nvSpPr>
        <p:spPr/>
        <p:txBody>
          <a:bodyPr vert="horz" lIns="91440" tIns="45720" rIns="91440" bIns="45720" rtlCol="0" anchor="t">
            <a:normAutofit lnSpcReduction="10000"/>
          </a:bodyPr>
          <a:lstStyle/>
          <a:p>
            <a:pPr marL="171450" indent="-171450">
              <a:buFont typeface="Calibri,Sans-Serif"/>
              <a:buChar char="-"/>
            </a:pPr>
            <a:r>
              <a:rPr lang="en-US" sz="1800" dirty="0">
                <a:ea typeface="+mn-lt"/>
                <a:cs typeface="+mn-lt"/>
              </a:rPr>
              <a:t>Country: the country that the wine is from</a:t>
            </a:r>
            <a:endParaRPr lang="en-US" sz="1800"/>
          </a:p>
          <a:p>
            <a:pPr marL="171450" indent="-171450">
              <a:buFont typeface="Calibri,Sans-Serif"/>
              <a:buChar char="-"/>
            </a:pPr>
            <a:r>
              <a:rPr lang="en-US" sz="1800" dirty="0">
                <a:ea typeface="+mn-lt"/>
                <a:cs typeface="+mn-lt"/>
              </a:rPr>
              <a:t>Province: the province or state that the wine is from</a:t>
            </a:r>
            <a:endParaRPr lang="en-US" sz="1800" dirty="0"/>
          </a:p>
          <a:p>
            <a:pPr marL="171450" indent="-171450">
              <a:buFont typeface="Calibri,Sans-Serif"/>
              <a:buChar char="-"/>
            </a:pPr>
            <a:r>
              <a:rPr lang="en-US" sz="1800" dirty="0">
                <a:ea typeface="+mn-lt"/>
                <a:cs typeface="+mn-lt"/>
              </a:rPr>
              <a:t>Region 1: the wine growing area in a province or state (</a:t>
            </a:r>
            <a:r>
              <a:rPr lang="en-US" sz="1800" dirty="0" err="1">
                <a:ea typeface="+mn-lt"/>
                <a:cs typeface="+mn-lt"/>
              </a:rPr>
              <a:t>ie</a:t>
            </a:r>
            <a:r>
              <a:rPr lang="en-US" sz="1800" dirty="0">
                <a:ea typeface="+mn-lt"/>
                <a:cs typeface="+mn-lt"/>
              </a:rPr>
              <a:t> Napa)</a:t>
            </a:r>
            <a:endParaRPr lang="en-US" sz="1800"/>
          </a:p>
          <a:p>
            <a:pPr marL="171450" indent="-171450">
              <a:buFont typeface="Calibri,Sans-Serif"/>
              <a:buChar char="-"/>
            </a:pPr>
            <a:r>
              <a:rPr lang="en-US" sz="1800" dirty="0">
                <a:ea typeface="+mn-lt"/>
                <a:cs typeface="+mn-lt"/>
              </a:rPr>
              <a:t>Region 2: sometimes there are more specific regions specified within a wine growing area (</a:t>
            </a:r>
            <a:r>
              <a:rPr lang="en-US" sz="1800" dirty="0" err="1">
                <a:ea typeface="+mn-lt"/>
                <a:cs typeface="+mn-lt"/>
              </a:rPr>
              <a:t>ie</a:t>
            </a:r>
            <a:r>
              <a:rPr lang="en-US" sz="1800" dirty="0">
                <a:ea typeface="+mn-lt"/>
                <a:cs typeface="+mn-lt"/>
              </a:rPr>
              <a:t> Rutherford inside the Napa Valley), but this value can sometimes be blank</a:t>
            </a:r>
            <a:endParaRPr lang="en-US" sz="1800"/>
          </a:p>
          <a:p>
            <a:pPr marL="171450" indent="-171450">
              <a:buFont typeface="Calibri,Sans-Serif"/>
              <a:buChar char="-"/>
            </a:pPr>
            <a:r>
              <a:rPr lang="en-US" sz="1800" dirty="0">
                <a:ea typeface="+mn-lt"/>
                <a:cs typeface="+mn-lt"/>
              </a:rPr>
              <a:t>Winery: the winery that made the wine</a:t>
            </a:r>
            <a:endParaRPr lang="en-US" sz="1800"/>
          </a:p>
          <a:p>
            <a:pPr marL="171450" indent="-171450">
              <a:buFont typeface="Calibri,Sans-Serif"/>
              <a:buChar char="-"/>
            </a:pPr>
            <a:r>
              <a:rPr lang="en-US" sz="1800" dirty="0">
                <a:ea typeface="+mn-lt"/>
                <a:cs typeface="+mn-lt"/>
              </a:rPr>
              <a:t>Designation: the vineyard within the winery where the grapes that made the wine are from</a:t>
            </a:r>
            <a:endParaRPr lang="en-US" sz="1800"/>
          </a:p>
          <a:p>
            <a:pPr marL="171450" indent="-171450">
              <a:buFont typeface="Calibri,Sans-Serif"/>
              <a:buChar char="-"/>
            </a:pPr>
            <a:r>
              <a:rPr lang="en-US" sz="1800" dirty="0">
                <a:ea typeface="+mn-lt"/>
                <a:cs typeface="+mn-lt"/>
              </a:rPr>
              <a:t>Price: the cost for a bottle of the wine</a:t>
            </a:r>
            <a:endParaRPr lang="en-US" sz="1800"/>
          </a:p>
          <a:p>
            <a:pPr marL="171450" indent="-171450">
              <a:buFont typeface="Calibri,Sans-Serif"/>
              <a:buChar char="-"/>
            </a:pPr>
            <a:r>
              <a:rPr lang="en-US" sz="1800" dirty="0">
                <a:ea typeface="+mn-lt"/>
                <a:cs typeface="+mn-lt"/>
              </a:rPr>
              <a:t>Taster Name: name of the person who tasted and reviewed the wine</a:t>
            </a:r>
            <a:endParaRPr lang="en-US" sz="1800" dirty="0"/>
          </a:p>
        </p:txBody>
      </p:sp>
    </p:spTree>
    <p:extLst>
      <p:ext uri="{BB962C8B-B14F-4D97-AF65-F5344CB8AC3E}">
        <p14:creationId xmlns:p14="http://schemas.microsoft.com/office/powerpoint/2010/main" val="2007606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D778-0885-B076-3397-7F6D826D1D1A}"/>
              </a:ext>
            </a:extLst>
          </p:cNvPr>
          <p:cNvSpPr>
            <a:spLocks noGrp="1"/>
          </p:cNvSpPr>
          <p:nvPr>
            <p:ph type="title"/>
          </p:nvPr>
        </p:nvSpPr>
        <p:spPr/>
        <p:txBody>
          <a:bodyPr/>
          <a:lstStyle/>
          <a:p>
            <a:r>
              <a:rPr lang="en-US" dirty="0"/>
              <a:t>Problems, Methods and excepted results</a:t>
            </a:r>
          </a:p>
        </p:txBody>
      </p:sp>
      <p:sp>
        <p:nvSpPr>
          <p:cNvPr id="3" name="Content Placeholder 2">
            <a:extLst>
              <a:ext uri="{FF2B5EF4-FFF2-40B4-BE49-F238E27FC236}">
                <a16:creationId xmlns:a16="http://schemas.microsoft.com/office/drawing/2014/main" id="{AE4D2BAF-9F95-1F8D-45A4-EA6EFB56B3EC}"/>
              </a:ext>
            </a:extLst>
          </p:cNvPr>
          <p:cNvSpPr>
            <a:spLocks noGrp="1"/>
          </p:cNvSpPr>
          <p:nvPr>
            <p:ph idx="1"/>
          </p:nvPr>
        </p:nvSpPr>
        <p:spPr/>
        <p:txBody>
          <a:bodyPr vert="horz" lIns="91440" tIns="45720" rIns="91440" bIns="45720" rtlCol="0" anchor="t">
            <a:normAutofit/>
          </a:bodyPr>
          <a:lstStyle/>
          <a:p>
            <a:r>
              <a:rPr lang="en-US" b="1" dirty="0">
                <a:ea typeface="+mn-lt"/>
                <a:cs typeface="+mn-lt"/>
              </a:rPr>
              <a:t>Problem:</a:t>
            </a:r>
            <a:r>
              <a:rPr lang="en-US" dirty="0">
                <a:ea typeface="+mn-lt"/>
                <a:cs typeface="+mn-lt"/>
              </a:rPr>
              <a:t> Extracting meaningful information from text descriptions (for example: </a:t>
            </a:r>
            <a:r>
              <a:rPr lang="en-US" i="1" dirty="0">
                <a:ea typeface="+mn-lt"/>
                <a:cs typeface="+mn-lt"/>
              </a:rPr>
              <a:t>“This is ripe and fruity, a wine that is smooth while still structured. Firm tannins are filled out w…”</a:t>
            </a:r>
            <a:r>
              <a:rPr lang="en-US" dirty="0">
                <a:ea typeface="+mn-lt"/>
                <a:cs typeface="+mn-lt"/>
              </a:rPr>
              <a:t>).</a:t>
            </a:r>
            <a:endParaRPr lang="en-US" dirty="0"/>
          </a:p>
          <a:p>
            <a:r>
              <a:rPr lang="en-US" b="1" dirty="0">
                <a:ea typeface="+mn-lt"/>
                <a:cs typeface="+mn-lt"/>
              </a:rPr>
              <a:t>Method:</a:t>
            </a:r>
            <a:r>
              <a:rPr lang="en-US" dirty="0">
                <a:ea typeface="+mn-lt"/>
                <a:cs typeface="+mn-lt"/>
              </a:rPr>
              <a:t> Tokenize the words and remove non-informative tokens. Build a one-hot encoding representation from the resulting tokens.</a:t>
            </a:r>
          </a:p>
          <a:p>
            <a:r>
              <a:rPr lang="en-US" b="1" dirty="0">
                <a:ea typeface="+mn-lt"/>
                <a:cs typeface="+mn-lt"/>
              </a:rPr>
              <a:t>Expected result:</a:t>
            </a:r>
            <a:r>
              <a:rPr lang="en-US" dirty="0">
                <a:ea typeface="+mn-lt"/>
                <a:cs typeface="+mn-lt"/>
              </a:rPr>
              <a:t> A usable dataset for subsequent distance (similarity) calculations.</a:t>
            </a:r>
            <a:endParaRPr lang="en-US" dirty="0"/>
          </a:p>
          <a:p>
            <a:endParaRPr lang="en-US" dirty="0">
              <a:ea typeface="+mn-lt"/>
              <a:cs typeface="+mn-lt"/>
            </a:endParaRPr>
          </a:p>
        </p:txBody>
      </p:sp>
    </p:spTree>
    <p:extLst>
      <p:ext uri="{BB962C8B-B14F-4D97-AF65-F5344CB8AC3E}">
        <p14:creationId xmlns:p14="http://schemas.microsoft.com/office/powerpoint/2010/main" val="3536286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280B-9EDE-FCAD-20D5-0A1A8F954AE0}"/>
              </a:ext>
            </a:extLst>
          </p:cNvPr>
          <p:cNvSpPr>
            <a:spLocks noGrp="1"/>
          </p:cNvSpPr>
          <p:nvPr>
            <p:ph type="title"/>
          </p:nvPr>
        </p:nvSpPr>
        <p:spPr/>
        <p:txBody>
          <a:bodyPr/>
          <a:lstStyle/>
          <a:p>
            <a:r>
              <a:rPr lang="en-US" dirty="0"/>
              <a:t>Problems, Methods and excepted results</a:t>
            </a:r>
          </a:p>
        </p:txBody>
      </p:sp>
      <p:sp>
        <p:nvSpPr>
          <p:cNvPr id="3" name="Content Placeholder 2">
            <a:extLst>
              <a:ext uri="{FF2B5EF4-FFF2-40B4-BE49-F238E27FC236}">
                <a16:creationId xmlns:a16="http://schemas.microsoft.com/office/drawing/2014/main" id="{799E76C3-9639-AD6E-D808-6178DA434651}"/>
              </a:ext>
            </a:extLst>
          </p:cNvPr>
          <p:cNvSpPr>
            <a:spLocks noGrp="1"/>
          </p:cNvSpPr>
          <p:nvPr>
            <p:ph idx="1"/>
          </p:nvPr>
        </p:nvSpPr>
        <p:spPr/>
        <p:txBody>
          <a:bodyPr vert="horz" lIns="91440" tIns="45720" rIns="91440" bIns="45720" rtlCol="0" anchor="t">
            <a:normAutofit/>
          </a:bodyPr>
          <a:lstStyle/>
          <a:p>
            <a:r>
              <a:rPr lang="en-US" b="1" dirty="0">
                <a:ea typeface="+mn-lt"/>
                <a:cs typeface="+mn-lt"/>
              </a:rPr>
              <a:t>Problem:</a:t>
            </a:r>
            <a:r>
              <a:rPr lang="en-US" dirty="0">
                <a:ea typeface="+mn-lt"/>
                <a:cs typeface="+mn-lt"/>
              </a:rPr>
              <a:t> Calculating distances between wine reviews from tasters and your own.</a:t>
            </a:r>
            <a:endParaRPr lang="en-US" dirty="0"/>
          </a:p>
          <a:p>
            <a:r>
              <a:rPr lang="en-US" b="1" dirty="0">
                <a:ea typeface="+mn-lt"/>
                <a:cs typeface="+mn-lt"/>
              </a:rPr>
              <a:t>Method:</a:t>
            </a:r>
            <a:r>
              <a:rPr lang="en-US" dirty="0">
                <a:ea typeface="+mn-lt"/>
                <a:cs typeface="+mn-lt"/>
              </a:rPr>
              <a:t> Using </a:t>
            </a:r>
            <a:r>
              <a:rPr lang="en-US" b="1" dirty="0">
                <a:ea typeface="+mn-lt"/>
                <a:cs typeface="+mn-lt"/>
              </a:rPr>
              <a:t>FAISS (Facebook AI Similarity Search)</a:t>
            </a:r>
            <a:r>
              <a:rPr lang="en-US" dirty="0">
                <a:ea typeface="+mn-lt"/>
                <a:cs typeface="+mn-lt"/>
              </a:rPr>
              <a:t> — an open-source library for efficient similarity search and clustering of high-dimensional vectors, ideal for finding nearest neighbors in large datasets. FAISS allows us to compare encoded vectors representing wine reviews to identify the most similar ones based on distance metrics (e.g., Euclidean). </a:t>
            </a:r>
            <a:endParaRPr lang="en-US" dirty="0"/>
          </a:p>
          <a:p>
            <a:r>
              <a:rPr lang="en-US" b="1" dirty="0">
                <a:ea typeface="+mn-lt"/>
                <a:cs typeface="+mn-lt"/>
              </a:rPr>
              <a:t>Expected result:</a:t>
            </a:r>
            <a:r>
              <a:rPr lang="en-US" dirty="0">
                <a:ea typeface="+mn-lt"/>
                <a:cs typeface="+mn-lt"/>
              </a:rPr>
              <a:t> Recommendations of wines that match your taste.</a:t>
            </a:r>
          </a:p>
          <a:p>
            <a:endParaRPr lang="en-US" dirty="0"/>
          </a:p>
        </p:txBody>
      </p:sp>
    </p:spTree>
    <p:extLst>
      <p:ext uri="{BB962C8B-B14F-4D97-AF65-F5344CB8AC3E}">
        <p14:creationId xmlns:p14="http://schemas.microsoft.com/office/powerpoint/2010/main" val="3368443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0DC4-0DAC-A893-3AD7-E4E368586DA0}"/>
              </a:ext>
            </a:extLst>
          </p:cNvPr>
          <p:cNvSpPr>
            <a:spLocks noGrp="1"/>
          </p:cNvSpPr>
          <p:nvPr>
            <p:ph type="title"/>
          </p:nvPr>
        </p:nvSpPr>
        <p:spPr/>
        <p:txBody>
          <a:bodyPr/>
          <a:lstStyle/>
          <a:p>
            <a:r>
              <a:rPr lang="en-US" dirty="0"/>
              <a:t>Problems, Methods and excepted results</a:t>
            </a:r>
          </a:p>
        </p:txBody>
      </p:sp>
      <p:sp>
        <p:nvSpPr>
          <p:cNvPr id="3" name="Content Placeholder 2">
            <a:extLst>
              <a:ext uri="{FF2B5EF4-FFF2-40B4-BE49-F238E27FC236}">
                <a16:creationId xmlns:a16="http://schemas.microsoft.com/office/drawing/2014/main" id="{7C90C8FC-275F-B090-1390-63FAB70D28C6}"/>
              </a:ext>
            </a:extLst>
          </p:cNvPr>
          <p:cNvSpPr>
            <a:spLocks noGrp="1"/>
          </p:cNvSpPr>
          <p:nvPr>
            <p:ph idx="1"/>
          </p:nvPr>
        </p:nvSpPr>
        <p:spPr/>
        <p:txBody>
          <a:bodyPr vert="horz" lIns="91440" tIns="45720" rIns="91440" bIns="45720" rtlCol="0" anchor="t">
            <a:normAutofit/>
          </a:bodyPr>
          <a:lstStyle/>
          <a:p>
            <a:r>
              <a:rPr lang="en-US" b="1" dirty="0">
                <a:ea typeface="+mn-lt"/>
                <a:cs typeface="+mn-lt"/>
              </a:rPr>
              <a:t>Problem:</a:t>
            </a:r>
            <a:r>
              <a:rPr lang="en-US" dirty="0">
                <a:ea typeface="+mn-lt"/>
                <a:cs typeface="+mn-lt"/>
              </a:rPr>
              <a:t> Aggregating data to fit your personal needs (e.g., budget), so that you can identify specific wine taste preferences or find affordable options.</a:t>
            </a:r>
          </a:p>
          <a:p>
            <a:r>
              <a:rPr lang="en-US" b="1" dirty="0">
                <a:ea typeface="+mn-lt"/>
                <a:cs typeface="+mn-lt"/>
              </a:rPr>
              <a:t>Methods:</a:t>
            </a:r>
            <a:r>
              <a:rPr lang="en-US" dirty="0">
                <a:ea typeface="+mn-lt"/>
                <a:cs typeface="+mn-lt"/>
              </a:rPr>
              <a:t> Build </a:t>
            </a:r>
            <a:r>
              <a:rPr lang="en-US" b="1" dirty="0">
                <a:ea typeface="+mn-lt"/>
                <a:cs typeface="+mn-lt"/>
              </a:rPr>
              <a:t>user interfaces</a:t>
            </a:r>
            <a:r>
              <a:rPr lang="en-US" dirty="0">
                <a:ea typeface="+mn-lt"/>
                <a:cs typeface="+mn-lt"/>
              </a:rPr>
              <a:t> that allow users to select the data and aggregation criteria they care about, using search and aggregated datasets to filter and refine results.</a:t>
            </a:r>
            <a:endParaRPr lang="en-US" dirty="0"/>
          </a:p>
          <a:p>
            <a:r>
              <a:rPr lang="en-US" b="1" dirty="0">
                <a:ea typeface="+mn-lt"/>
                <a:cs typeface="+mn-lt"/>
              </a:rPr>
              <a:t>Expected result:</a:t>
            </a:r>
            <a:r>
              <a:rPr lang="en-US" dirty="0">
                <a:ea typeface="+mn-lt"/>
                <a:cs typeface="+mn-lt"/>
              </a:rPr>
              <a:t> The best wine recommendations tailored to you.</a:t>
            </a:r>
            <a:endParaRPr lang="en-US" dirty="0"/>
          </a:p>
          <a:p>
            <a:endParaRPr lang="en-US" dirty="0"/>
          </a:p>
          <a:p>
            <a:endParaRPr lang="en-US" dirty="0"/>
          </a:p>
        </p:txBody>
      </p:sp>
    </p:spTree>
    <p:extLst>
      <p:ext uri="{BB962C8B-B14F-4D97-AF65-F5344CB8AC3E}">
        <p14:creationId xmlns:p14="http://schemas.microsoft.com/office/powerpoint/2010/main" val="3922609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317F-B3AA-539C-2AA7-B8859A7FA540}"/>
              </a:ext>
            </a:extLst>
          </p:cNvPr>
          <p:cNvSpPr>
            <a:spLocks noGrp="1"/>
          </p:cNvSpPr>
          <p:nvPr>
            <p:ph type="title"/>
          </p:nvPr>
        </p:nvSpPr>
        <p:spPr/>
        <p:txBody>
          <a:bodyPr/>
          <a:lstStyle/>
          <a:p>
            <a:r>
              <a:rPr lang="en-US" dirty="0"/>
              <a:t>Problems, Methods and excepted results</a:t>
            </a:r>
            <a:endParaRPr lang="en-US" i="0" dirty="0"/>
          </a:p>
          <a:p>
            <a:endParaRPr lang="en-US" dirty="0"/>
          </a:p>
        </p:txBody>
      </p:sp>
      <p:sp>
        <p:nvSpPr>
          <p:cNvPr id="3" name="Content Placeholder 2">
            <a:extLst>
              <a:ext uri="{FF2B5EF4-FFF2-40B4-BE49-F238E27FC236}">
                <a16:creationId xmlns:a16="http://schemas.microsoft.com/office/drawing/2014/main" id="{23A6F2C0-69AB-6869-498A-ECB4E7104209}"/>
              </a:ext>
            </a:extLst>
          </p:cNvPr>
          <p:cNvSpPr>
            <a:spLocks noGrp="1"/>
          </p:cNvSpPr>
          <p:nvPr>
            <p:ph idx="1"/>
          </p:nvPr>
        </p:nvSpPr>
        <p:spPr/>
        <p:txBody>
          <a:bodyPr vert="horz" lIns="91440" tIns="45720" rIns="91440" bIns="45720" rtlCol="0" anchor="t">
            <a:normAutofit/>
          </a:bodyPr>
          <a:lstStyle/>
          <a:p>
            <a:r>
              <a:rPr lang="en-US" b="1" dirty="0">
                <a:ea typeface="+mn-lt"/>
                <a:cs typeface="+mn-lt"/>
              </a:rPr>
              <a:t>Problem:</a:t>
            </a:r>
            <a:r>
              <a:rPr lang="en-US" dirty="0">
                <a:ea typeface="+mn-lt"/>
                <a:cs typeface="+mn-lt"/>
              </a:rPr>
              <a:t> Finding out whether </a:t>
            </a:r>
            <a:r>
              <a:rPr lang="en-US" b="1" dirty="0">
                <a:ea typeface="+mn-lt"/>
                <a:cs typeface="+mn-lt"/>
              </a:rPr>
              <a:t>price</a:t>
            </a:r>
            <a:r>
              <a:rPr lang="en-US" dirty="0">
                <a:ea typeface="+mn-lt"/>
                <a:cs typeface="+mn-lt"/>
              </a:rPr>
              <a:t> is closely related to </a:t>
            </a:r>
            <a:r>
              <a:rPr lang="en-US" b="1" dirty="0">
                <a:ea typeface="+mn-lt"/>
                <a:cs typeface="+mn-lt"/>
              </a:rPr>
              <a:t>wine ratings</a:t>
            </a:r>
            <a:r>
              <a:rPr lang="en-US" dirty="0">
                <a:ea typeface="+mn-lt"/>
                <a:cs typeface="+mn-lt"/>
              </a:rPr>
              <a:t>, and identifying which wines are </a:t>
            </a:r>
            <a:r>
              <a:rPr lang="en-US" b="1" dirty="0">
                <a:ea typeface="+mn-lt"/>
                <a:cs typeface="+mn-lt"/>
              </a:rPr>
              <a:t>good and affordable</a:t>
            </a:r>
            <a:r>
              <a:rPr lang="en-US" dirty="0">
                <a:ea typeface="+mn-lt"/>
                <a:cs typeface="+mn-lt"/>
              </a:rPr>
              <a:t>.</a:t>
            </a:r>
            <a:endParaRPr lang="en-US" dirty="0"/>
          </a:p>
          <a:p>
            <a:r>
              <a:rPr lang="en-US" b="1" dirty="0">
                <a:ea typeface="+mn-lt"/>
                <a:cs typeface="+mn-lt"/>
              </a:rPr>
              <a:t>Method:</a:t>
            </a:r>
            <a:r>
              <a:rPr lang="en-US" dirty="0">
                <a:ea typeface="+mn-lt"/>
                <a:cs typeface="+mn-lt"/>
              </a:rPr>
              <a:t> Calculating the relationship and analyzing the </a:t>
            </a:r>
            <a:r>
              <a:rPr lang="en-US" b="1" dirty="0">
                <a:ea typeface="+mn-lt"/>
                <a:cs typeface="+mn-lt"/>
              </a:rPr>
              <a:t>distribution of price over rating points</a:t>
            </a:r>
            <a:r>
              <a:rPr lang="en-US" dirty="0">
                <a:ea typeface="+mn-lt"/>
                <a:cs typeface="+mn-lt"/>
              </a:rPr>
              <a:t>.</a:t>
            </a:r>
            <a:endParaRPr lang="en-US" dirty="0"/>
          </a:p>
          <a:p>
            <a:r>
              <a:rPr lang="en-US" b="1" dirty="0">
                <a:ea typeface="+mn-lt"/>
                <a:cs typeface="+mn-lt"/>
              </a:rPr>
              <a:t>Expected results:</a:t>
            </a:r>
            <a:r>
              <a:rPr lang="en-US" dirty="0">
                <a:ea typeface="+mn-lt"/>
                <a:cs typeface="+mn-lt"/>
              </a:rPr>
              <a:t> Getting an answer to whether price and rating are correlated, and finding some </a:t>
            </a:r>
            <a:r>
              <a:rPr lang="en-US" b="1" dirty="0">
                <a:ea typeface="+mn-lt"/>
                <a:cs typeface="+mn-lt"/>
              </a:rPr>
              <a:t>affordable high-quality wines (outliers)</a:t>
            </a:r>
            <a:r>
              <a:rPr lang="en-US" dirty="0">
                <a:ea typeface="+mn-lt"/>
                <a:cs typeface="+mn-lt"/>
              </a:rPr>
              <a:t> that represent good value.</a:t>
            </a:r>
            <a:endParaRPr lang="en-US" dirty="0"/>
          </a:p>
          <a:p>
            <a:endParaRPr lang="en-US" dirty="0"/>
          </a:p>
        </p:txBody>
      </p:sp>
    </p:spTree>
    <p:extLst>
      <p:ext uri="{BB962C8B-B14F-4D97-AF65-F5344CB8AC3E}">
        <p14:creationId xmlns:p14="http://schemas.microsoft.com/office/powerpoint/2010/main" val="118195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89A17-74F4-328C-20AB-E776C914C034}"/>
              </a:ext>
            </a:extLst>
          </p:cNvPr>
          <p:cNvSpPr>
            <a:spLocks noGrp="1"/>
          </p:cNvSpPr>
          <p:nvPr>
            <p:ph type="title"/>
          </p:nvPr>
        </p:nvSpPr>
        <p:spPr/>
        <p:txBody>
          <a:bodyPr/>
          <a:lstStyle/>
          <a:p>
            <a:r>
              <a:rPr lang="en-US" dirty="0"/>
              <a:t>Problems, Methods and excepted results</a:t>
            </a:r>
          </a:p>
        </p:txBody>
      </p:sp>
      <p:sp>
        <p:nvSpPr>
          <p:cNvPr id="3" name="Content Placeholder 2">
            <a:extLst>
              <a:ext uri="{FF2B5EF4-FFF2-40B4-BE49-F238E27FC236}">
                <a16:creationId xmlns:a16="http://schemas.microsoft.com/office/drawing/2014/main" id="{004301DA-FED0-3B8F-B3B3-0668B5BD7358}"/>
              </a:ext>
            </a:extLst>
          </p:cNvPr>
          <p:cNvSpPr>
            <a:spLocks noGrp="1"/>
          </p:cNvSpPr>
          <p:nvPr>
            <p:ph idx="1"/>
          </p:nvPr>
        </p:nvSpPr>
        <p:spPr/>
        <p:txBody>
          <a:bodyPr vert="horz" lIns="91440" tIns="45720" rIns="91440" bIns="45720" rtlCol="0" anchor="t">
            <a:normAutofit lnSpcReduction="10000"/>
          </a:bodyPr>
          <a:lstStyle/>
          <a:p>
            <a:r>
              <a:rPr lang="en-US" b="1">
                <a:ea typeface="+mn-lt"/>
                <a:cs typeface="+mn-lt"/>
              </a:rPr>
              <a:t>Problem:</a:t>
            </a:r>
            <a:r>
              <a:rPr lang="en-US">
                <a:ea typeface="+mn-lt"/>
                <a:cs typeface="+mn-lt"/>
              </a:rPr>
              <a:t> Investigating whether there is a </a:t>
            </a:r>
            <a:r>
              <a:rPr lang="en-US" b="1">
                <a:ea typeface="+mn-lt"/>
                <a:cs typeface="+mn-lt"/>
              </a:rPr>
              <a:t>relationship between wine descriptions</a:t>
            </a:r>
            <a:r>
              <a:rPr lang="en-US" dirty="0">
                <a:ea typeface="+mn-lt"/>
                <a:cs typeface="+mn-lt"/>
              </a:rPr>
              <a:t> </a:t>
            </a:r>
            <a:r>
              <a:rPr lang="en-US">
                <a:ea typeface="+mn-lt"/>
                <a:cs typeface="+mn-lt"/>
              </a:rPr>
              <a:t>(e.g., aroma, taste, character) and </a:t>
            </a:r>
            <a:r>
              <a:rPr lang="en-US" b="1">
                <a:ea typeface="+mn-lt"/>
                <a:cs typeface="+mn-lt"/>
              </a:rPr>
              <a:t>wine variety</a:t>
            </a:r>
            <a:r>
              <a:rPr lang="en-US">
                <a:ea typeface="+mn-lt"/>
                <a:cs typeface="+mn-lt"/>
              </a:rPr>
              <a:t> (such as Pinot Noir, Cabernet Sauvignon, etc.).</a:t>
            </a:r>
          </a:p>
          <a:p>
            <a:r>
              <a:rPr lang="en-US" b="1" dirty="0">
                <a:ea typeface="+mn-lt"/>
                <a:cs typeface="+mn-lt"/>
              </a:rPr>
              <a:t>Method:</a:t>
            </a:r>
            <a:r>
              <a:rPr lang="en-US" dirty="0">
                <a:ea typeface="+mn-lt"/>
                <a:cs typeface="+mn-lt"/>
              </a:rPr>
              <a:t> Analyze the tasting notes to find the most frequently used words associated with each wine variety and check whether these words differ significantly between varieties. This is similar to how we used text analysis to identify distinguishing vocabulary in forum posts or topic modeling in one of previous tasks.</a:t>
            </a:r>
            <a:endParaRPr lang="en-US" dirty="0"/>
          </a:p>
          <a:p>
            <a:r>
              <a:rPr lang="en-US" b="1" dirty="0">
                <a:ea typeface="+mn-lt"/>
                <a:cs typeface="+mn-lt"/>
              </a:rPr>
              <a:t>Expected result:</a:t>
            </a:r>
            <a:r>
              <a:rPr lang="en-US" dirty="0">
                <a:ea typeface="+mn-lt"/>
                <a:cs typeface="+mn-lt"/>
              </a:rPr>
              <a:t> Identify </a:t>
            </a:r>
            <a:r>
              <a:rPr lang="en-US" b="1" dirty="0">
                <a:ea typeface="+mn-lt"/>
                <a:cs typeface="+mn-lt"/>
              </a:rPr>
              <a:t>sets of words</a:t>
            </a:r>
            <a:r>
              <a:rPr lang="en-US" dirty="0">
                <a:ea typeface="+mn-lt"/>
                <a:cs typeface="+mn-lt"/>
              </a:rPr>
              <a:t> that are characteristic of each wine variety; some wine types may have descriptions that are more similar to each other, while others will be more distinct.</a:t>
            </a:r>
            <a:endParaRPr lang="en-US" dirty="0"/>
          </a:p>
          <a:p>
            <a:endParaRPr lang="en-US" dirty="0"/>
          </a:p>
        </p:txBody>
      </p:sp>
    </p:spTree>
    <p:extLst>
      <p:ext uri="{BB962C8B-B14F-4D97-AF65-F5344CB8AC3E}">
        <p14:creationId xmlns:p14="http://schemas.microsoft.com/office/powerpoint/2010/main" val="1382595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38EA4-8F1F-6EAD-FCB5-C3432166AAD3}"/>
              </a:ext>
            </a:extLst>
          </p:cNvPr>
          <p:cNvSpPr>
            <a:spLocks noGrp="1"/>
          </p:cNvSpPr>
          <p:nvPr>
            <p:ph type="title"/>
          </p:nvPr>
        </p:nvSpPr>
        <p:spPr/>
        <p:txBody>
          <a:bodyPr/>
          <a:lstStyle/>
          <a:p>
            <a:r>
              <a:rPr lang="en-US" dirty="0"/>
              <a:t>More problems</a:t>
            </a:r>
          </a:p>
        </p:txBody>
      </p:sp>
      <p:sp>
        <p:nvSpPr>
          <p:cNvPr id="3" name="Content Placeholder 2">
            <a:extLst>
              <a:ext uri="{FF2B5EF4-FFF2-40B4-BE49-F238E27FC236}">
                <a16:creationId xmlns:a16="http://schemas.microsoft.com/office/drawing/2014/main" id="{807231C7-55CE-E8D9-D173-4AB06FA9114B}"/>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-  Null values, especially null values in prices (we can try scraping them from the internet if possible)</a:t>
            </a:r>
            <a:endParaRPr lang="en-US" dirty="0"/>
          </a:p>
          <a:p>
            <a:pPr marL="342900" indent="-342900">
              <a:buFont typeface="Calibri" panose="020B0604020202020204" pitchFamily="34" charset="0"/>
              <a:buChar char="-"/>
            </a:pPr>
            <a:r>
              <a:rPr lang="en-US" dirty="0">
                <a:ea typeface="+mn-lt"/>
                <a:cs typeface="+mn-lt"/>
              </a:rPr>
              <a:t>Problem with scraping, we may have a problem in finding the name of wine because we only have the winery</a:t>
            </a:r>
          </a:p>
          <a:p>
            <a:pPr marL="342900" indent="-342900">
              <a:buFont typeface="Calibri" panose="020B0604020202020204" pitchFamily="34" charset="0"/>
              <a:buChar char="-"/>
            </a:pPr>
            <a:r>
              <a:rPr lang="en-US" dirty="0">
                <a:ea typeface="+mn-lt"/>
                <a:cs typeface="+mn-lt"/>
              </a:rPr>
              <a:t>Different words in descriptions (synonyms), different inflected forms or parts of speech</a:t>
            </a:r>
          </a:p>
          <a:p>
            <a:pPr marL="342900" indent="-342900">
              <a:buFont typeface="Calibri" panose="020B0604020202020204" pitchFamily="34" charset="0"/>
              <a:buChar char="-"/>
            </a:pPr>
            <a:endParaRPr lang="en-US" dirty="0"/>
          </a:p>
          <a:p>
            <a:endParaRPr lang="en-US" dirty="0"/>
          </a:p>
          <a:p>
            <a:r>
              <a:rPr lang="en-US" b="1" dirty="0"/>
              <a:t>And more yet to come...</a:t>
            </a:r>
            <a:endParaRPr lang="en-US" dirty="0"/>
          </a:p>
        </p:txBody>
      </p:sp>
    </p:spTree>
    <p:extLst>
      <p:ext uri="{BB962C8B-B14F-4D97-AF65-F5344CB8AC3E}">
        <p14:creationId xmlns:p14="http://schemas.microsoft.com/office/powerpoint/2010/main" val="2397206713"/>
      </p:ext>
    </p:extLst>
  </p:cSld>
  <p:clrMapOvr>
    <a:masterClrMapping/>
  </p:clrMapOvr>
</p:sld>
</file>

<file path=ppt/theme/theme1.xml><?xml version="1.0" encoding="utf-8"?>
<a:theme xmlns:a="http://schemas.openxmlformats.org/drawingml/2006/main" name="RocaVTI">
  <a:themeElements>
    <a:clrScheme name="Custom 101">
      <a:dk1>
        <a:sysClr val="windowText" lastClr="000000"/>
      </a:dk1>
      <a:lt1>
        <a:sysClr val="window" lastClr="FFFFFF"/>
      </a:lt1>
      <a:dk2>
        <a:srgbClr val="463443"/>
      </a:dk2>
      <a:lt2>
        <a:srgbClr val="F3F0E9"/>
      </a:lt2>
      <a:accent1>
        <a:srgbClr val="D45E5E"/>
      </a:accent1>
      <a:accent2>
        <a:srgbClr val="D49D8C"/>
      </a:accent2>
      <a:accent3>
        <a:srgbClr val="BF873A"/>
      </a:accent3>
      <a:accent4>
        <a:srgbClr val="C05050"/>
      </a:accent4>
      <a:accent5>
        <a:srgbClr val="A89F68"/>
      </a:accent5>
      <a:accent6>
        <a:srgbClr val="8F6B8A"/>
      </a:accent6>
      <a:hlink>
        <a:srgbClr val="D75681"/>
      </a:hlink>
      <a:folHlink>
        <a:srgbClr val="6C9D92"/>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RocaVTI</vt:lpstr>
      <vt:lpstr>ML Projekt (wstęp)</vt:lpstr>
      <vt:lpstr>Problem to solve:</vt:lpstr>
      <vt:lpstr>Dataset</vt:lpstr>
      <vt:lpstr>What does the data  include?</vt:lpstr>
      <vt:lpstr>Problems, Methods and excepted results</vt:lpstr>
      <vt:lpstr>Problems, Methods and excepted results</vt:lpstr>
      <vt:lpstr>Problems, Methods and excepted results</vt:lpstr>
      <vt:lpstr>Problems, Methods and excepted results </vt:lpstr>
      <vt:lpstr>Problems, Methods and excepted results</vt:lpstr>
      <vt:lpstr>More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318</cp:revision>
  <dcterms:created xsi:type="dcterms:W3CDTF">2026-01-14T13:14:02Z</dcterms:created>
  <dcterms:modified xsi:type="dcterms:W3CDTF">2026-01-14T17:30:40Z</dcterms:modified>
</cp:coreProperties>
</file>